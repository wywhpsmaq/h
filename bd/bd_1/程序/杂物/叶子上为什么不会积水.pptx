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66" r:id="rId6"/>
    <p:sldId id="274" r:id="rId7"/>
    <p:sldId id="271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accent1">
        <a:lumMod val="75000"/>
      </a:schemeClr>
    </p:penClr>
    <p:extLst>
      <p:ext uri="{2FDB2607-1784-4EEB-B798-7EB5836EED8A}">
        <p14:showMediaCtrls xmlns:p14="http://schemas.microsoft.com/office/powerpoint/2010/main" val="1"/>
      </p:ext>
    </p:extLst>
  </p:showPr>
  <p:clrMru>
    <a:srgbClr val="262626"/>
    <a:srgbClr val="BEBEBE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bg2">
              <a:lumMod val="9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bg2">
              <a:lumMod val="9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bg2">
              <a:lumMod val="9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bg2">
              <a:lumMod val="9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192000" cy="383540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2255" y="318135"/>
            <a:ext cx="11683365" cy="5634990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tx2"/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>
          <a:gsLst>
            <a:gs pos="0">
              <a:schemeClr val="tx2"/>
            </a:gs>
            <a:gs pos="100000">
              <a:schemeClr val="bg2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1328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1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05547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1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gradFill>
          <a:gsLst>
            <a:gs pos="0">
              <a:schemeClr val="tx2"/>
            </a:gs>
            <a:gs pos="100000">
              <a:schemeClr val="bg2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-635" y="-10160"/>
            <a:ext cx="12192000" cy="2663825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5208" y="508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0000"/>
                </a:schemeClr>
              </a:gs>
              <a:gs pos="100000">
                <a:schemeClr val="bg2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9230" y="-9939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gradFill>
          <a:gsLst>
            <a:gs pos="0">
              <a:schemeClr val="tx2"/>
            </a:gs>
            <a:gs pos="100000">
              <a:schemeClr val="bg2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6661"/>
            <a:ext cx="12192000" cy="1828799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0296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5000"/>
                  <a:alpha val="2000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gradFill>
          <a:gsLst>
            <a:gs pos="0">
              <a:schemeClr val="tx2"/>
            </a:gs>
            <a:gs pos="100000">
              <a:schemeClr val="bg2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10000"/>
              <a:alpha val="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237490"/>
            <a:ext cx="11031220" cy="506730"/>
          </a:xfrm>
        </p:spPr>
        <p:txBody>
          <a:bodyPr wrap="none">
            <a:noAutofit/>
          </a:bodyPr>
          <a:lstStyle>
            <a:lvl1pPr algn="l"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>
          <a:gsLst>
            <a:gs pos="0">
              <a:schemeClr val="tx2"/>
            </a:gs>
            <a:gs pos="100000">
              <a:schemeClr val="bg2">
                <a:lumMod val="9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87.xml"/><Relationship Id="rId23" Type="http://schemas.openxmlformats.org/officeDocument/2006/relationships/tags" Target="../tags/tag186.xml"/><Relationship Id="rId22" Type="http://schemas.openxmlformats.org/officeDocument/2006/relationships/tags" Target="../tags/tag185.xml"/><Relationship Id="rId21" Type="http://schemas.openxmlformats.org/officeDocument/2006/relationships/tags" Target="../tags/tag184.xml"/><Relationship Id="rId20" Type="http://schemas.openxmlformats.org/officeDocument/2006/relationships/tags" Target="../tags/tag18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82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9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image" Target="../media/image5.jpeg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8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9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91465" y="548640"/>
            <a:ext cx="8423910" cy="1265555"/>
          </a:xfrm>
        </p:spPr>
        <p:txBody>
          <a:bodyPr>
            <a:normAutofit/>
          </a:bodyPr>
          <a:p>
            <a:r>
              <a:rPr lang="zh-CN" altLang="zh-CN"/>
              <a:t>荷叶上为什么不会沾水？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516110" y="5356225"/>
            <a:ext cx="2675890" cy="1501775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  <a:scene3d>
              <a:camera prst="obliqueTopRight"/>
              <a:lightRig rig="threePt" dir="t"/>
            </a:scene3d>
          </a:bodyPr>
          <a:p>
            <a:r>
              <a:rPr lang="zh-CN" altLang="en-US" sz="3200">
                <a:ln>
                  <a:solidFill>
                    <a:srgbClr val="262626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四年级一班</a:t>
            </a:r>
            <a:endParaRPr lang="zh-CN" altLang="en-US" sz="3200">
              <a:ln>
                <a:solidFill>
                  <a:srgbClr val="262626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0" algn="ctr">
              <a:buClrTx/>
              <a:buSzTx/>
              <a:buNone/>
            </a:pPr>
            <a:r>
              <a:rPr lang="zh-CN" altLang="en-US" sz="3200">
                <a:ln>
                  <a:solidFill>
                    <a:srgbClr val="262626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李明天</a:t>
            </a:r>
            <a:endParaRPr lang="zh-CN" altLang="en-US" sz="3200">
              <a:ln>
                <a:solidFill>
                  <a:srgbClr val="262626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" y="116205"/>
            <a:ext cx="3899535" cy="570230"/>
          </a:xfrm>
        </p:spPr>
        <p:txBody>
          <a:bodyPr>
            <a:normAutofit fontScale="90000"/>
          </a:bodyPr>
          <a:p>
            <a:r>
              <a:rPr lang="zh-CN" altLang="en-US"/>
              <a:t>一</a:t>
            </a:r>
            <a:r>
              <a:rPr lang="en-US" altLang="zh-CN"/>
              <a:t> </a:t>
            </a:r>
            <a:r>
              <a:rPr lang="zh-CN" altLang="en-US"/>
              <a:t>、荷叶的构造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431405" y="1771650"/>
            <a:ext cx="4350385" cy="33153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1"/>
              <a:t>荷叶表面布满着许多高度约为5～9微米的乳突，乳突之间的距离约为12微米；</a:t>
            </a:r>
            <a:endParaRPr lang="zh-CN" altLang="en-US" sz="2400" b="1"/>
          </a:p>
          <a:p>
            <a:pPr marL="0" indent="0">
              <a:buNone/>
            </a:pPr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在每一个乳突上面，</a:t>
            </a:r>
            <a:r>
              <a:rPr lang="zh-CN" altLang="en-US" sz="2400" b="1">
                <a:sym typeface="+mn-ea"/>
              </a:rPr>
              <a:t>都长了许许多多的蜡状突起，这些突起直径约为200纳米。</a:t>
            </a:r>
            <a:endParaRPr lang="zh-CN" altLang="en-US" sz="2400" b="1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245" y="759460"/>
            <a:ext cx="6737350" cy="25615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5" y="3394075"/>
            <a:ext cx="6003925" cy="33299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二、荷叶疏水原理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425690" y="4263390"/>
            <a:ext cx="4540250" cy="224726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 sz="2400" b="1"/>
              <a:t>当水滴落到荷叶上时，这些密密麻麻大大小小的“柱子”就对水滴产生了排斥性，使水滴无法侵入到“柱子”的间隙里，从而使荷叶保持干爽。</a:t>
            </a:r>
            <a:endParaRPr lang="zh-CN" altLang="en-US" sz="2400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" y="2016125"/>
            <a:ext cx="7155815" cy="40747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55" y="1884045"/>
            <a:ext cx="4050665" cy="22472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9563" y="609496"/>
            <a:ext cx="10972876" cy="572769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16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三、荷叶为什么能有疏水功能</a:t>
            </a:r>
            <a:endParaRPr lang="zh-CN" altLang="en-US" sz="3200" b="1" spc="16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1610" r="1610"/>
          <a:stretch>
            <a:fillRect/>
          </a:stretch>
        </p:blipFill>
        <p:spPr>
          <a:xfrm>
            <a:off x="609558" y="1527076"/>
            <a:ext cx="6400851" cy="441656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80" h="6480">
                <a:moveTo>
                  <a:pt x="0" y="0"/>
                </a:moveTo>
                <a:lnTo>
                  <a:pt x="10080" y="0"/>
                </a:lnTo>
                <a:lnTo>
                  <a:pt x="10080" y="6480"/>
                </a:lnTo>
                <a:lnTo>
                  <a:pt x="0" y="64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Title 6"/>
          <p:cNvSpPr txBox="1"/>
          <p:nvPr>
            <p:custDataLst>
              <p:tags r:id="rId4"/>
            </p:custDataLst>
          </p:nvPr>
        </p:nvSpPr>
        <p:spPr>
          <a:xfrm>
            <a:off x="7467618" y="1525664"/>
            <a:ext cx="4114825" cy="44179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叶片是植物光合作用的器官，是植物能量提供的来源；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也就是说叶片上不能沾染灰尘雨水等，因为灰尘雨水会阻碍植物的光合作用；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所以很多植物叶片的表皮细胞外面都会覆盖一层角质层或者蜡质层，不仅阻碍水珠停留，一定程度上也能阻止和清洗灰尘；达到“自净功能”；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这就是著名的“荷叶效应”。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6741795" cy="705485"/>
          </a:xfrm>
        </p:spPr>
        <p:txBody>
          <a:bodyPr>
            <a:normAutofit/>
          </a:bodyPr>
          <a:p>
            <a:r>
              <a:rPr lang="zh-CN" altLang="en-US"/>
              <a:t>三、</a:t>
            </a:r>
            <a:r>
              <a:rPr lang="en-US" altLang="zh-CN"/>
              <a:t>“</a:t>
            </a:r>
            <a:r>
              <a:rPr lang="zh-CN" altLang="en-US">
                <a:sym typeface="+mn-ea"/>
              </a:rPr>
              <a:t>荷叶效应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的应用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298575" y="4681220"/>
            <a:ext cx="9594850" cy="17068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400" b="1"/>
              <a:t>通过荷叶构造的启发，人们制作出了超疏水材料，可以应用到雨衣雨伞、不粘锅以及外墙涂料等生活的方方面面。以及其他需要防水的地方，遇到水的时候，会自动地进行隔绝。</a:t>
            </a:r>
            <a:endParaRPr lang="zh-CN" altLang="en-US" sz="2400" b="1"/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716280" y="1449705"/>
            <a:ext cx="2207260" cy="2352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2"/>
          <a:stretch>
            <a:fillRect/>
          </a:stretch>
        </p:blipFill>
        <p:spPr>
          <a:xfrm>
            <a:off x="3409950" y="1466850"/>
            <a:ext cx="2218690" cy="23006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/>
        </p:nvPicPr>
        <p:blipFill>
          <a:blip r:embed="rId3"/>
          <a:stretch>
            <a:fillRect/>
          </a:stretch>
        </p:blipFill>
        <p:spPr>
          <a:xfrm>
            <a:off x="5858510" y="1440180"/>
            <a:ext cx="5686425" cy="232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内容占位符 5"/>
          <p:cNvSpPr>
            <a:spLocks noGrp="1"/>
          </p:cNvSpPr>
          <p:nvPr/>
        </p:nvSpPr>
        <p:spPr>
          <a:xfrm>
            <a:off x="875665" y="3836035"/>
            <a:ext cx="1888490" cy="64198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</a:rPr>
              <a:t>黑科技雨伞</a:t>
            </a:r>
            <a:endParaRPr lang="zh-CN" altLang="en-US" sz="24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内容占位符 5"/>
          <p:cNvSpPr>
            <a:spLocks noGrp="1"/>
          </p:cNvSpPr>
          <p:nvPr/>
        </p:nvSpPr>
        <p:spPr>
          <a:xfrm>
            <a:off x="3878580" y="3856355"/>
            <a:ext cx="1280795" cy="56134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</a:rPr>
              <a:t>不粘锅</a:t>
            </a:r>
            <a:endParaRPr lang="zh-CN" altLang="en-US" sz="24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内容占位符 5"/>
          <p:cNvSpPr>
            <a:spLocks noGrp="1"/>
          </p:cNvSpPr>
          <p:nvPr/>
        </p:nvSpPr>
        <p:spPr>
          <a:xfrm>
            <a:off x="8076565" y="3835400"/>
            <a:ext cx="1696085" cy="62293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</a:rPr>
              <a:t>外墙涂料</a:t>
            </a:r>
            <a:endParaRPr lang="zh-CN" altLang="en-US" sz="24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9060"/>
            <a:ext cx="14344015" cy="70561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04945" y="2834640"/>
            <a:ext cx="4183380" cy="1188085"/>
          </a:xfrm>
        </p:spPr>
        <p:txBody>
          <a:bodyPr/>
          <a:p>
            <a:r>
              <a:rPr lang="zh-CN" altLang="en-US"/>
              <a:t>谢谢</a:t>
            </a:r>
            <a:r>
              <a:rPr lang="zh-CN" altLang="en-US">
                <a:sym typeface="+mn-ea"/>
              </a:rPr>
              <a:t>大家</a:t>
            </a:r>
            <a:r>
              <a:rPr lang="en-US" altLang="zh-CN">
                <a:sym typeface="+mn-ea"/>
              </a:rPr>
              <a:t>!</a:t>
            </a:r>
            <a:endParaRPr lang="en-US" alt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2"/>
      </p:transition>
    </mc:Choice>
    <mc:Fallback>
      <p:transition spd="slow">
        <p:wheel spokes="2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6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6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6"/>
  <p:tag name="KSO_WM_TEMPLATE_MASTER_THUMB_INDEX" val="12"/>
  <p:tag name="KSO_WM_TEMPLATE_THUMBS_INDEX" val="1、4、7、8、10、11、12、13、15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UNIT_PLACING_PICTURE_USER_VIEWPORT" val="{&quot;height&quot;:7056,&quot;width&quot;:18564}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341_1*a*1"/>
  <p:tag name="KSO_WM_TEMPLATE_CATEGORY" val="diagram"/>
  <p:tag name="KSO_WM_TEMPLATE_INDEX" val="2021334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14826f8060e41138ca1c58bc16e86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cb0c46466ce441fb0b47d0c372ef067"/>
  <p:tag name="KSO_WM_UNIT_TEXT_FILL_FORE_SCHEMECOLOR_INDEX_BRIGHTNESS" val="0"/>
  <p:tag name="KSO_WM_UNIT_TEXT_FILL_FORE_SCHEMECOLOR_INDEX" val="13"/>
  <p:tag name="KSO_WM_UNIT_TEXT_FILL_TYPE" val="1"/>
  <p:tag name="KSO_WM_TEMPLATE_ASSEMBLE_XID" val="60656ece4054ed1e2fb7fff9"/>
  <p:tag name="KSO_WM_TEMPLATE_ASSEMBLE_GROUPID" val="60656ece4054ed1e2fb7fff9"/>
</p:tagLst>
</file>

<file path=ppt/tags/tag195.xml><?xml version="1.0" encoding="utf-8"?>
<p:tagLst xmlns:p="http://schemas.openxmlformats.org/presentationml/2006/main">
  <p:tag name="KSO_WM_UNIT_VALUE" val="1142*1777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3341_1*d*1"/>
  <p:tag name="KSO_WM_TEMPLATE_CATEGORY" val="diagram"/>
  <p:tag name="KSO_WM_TEMPLATE_INDEX" val="2021334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8728ba5738e4ba88aa7e13940ad8c2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2bcaac3ac5e2482196498b5d8fb47f26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ece4054ed1e2fb7fff9"/>
  <p:tag name="KSO_WM_TEMPLATE_ASSEMBLE_GROUPID" val="60656ece4054ed1e2fb7fff9"/>
</p:tagLst>
</file>

<file path=ppt/tags/tag19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341_1*f*1"/>
  <p:tag name="KSO_WM_TEMPLATE_CATEGORY" val="diagram"/>
  <p:tag name="KSO_WM_TEMPLATE_INDEX" val="2021334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4"/>
  <p:tag name="KSO_WM_UNIT_SHOW_EDIT_AREA_INDICATION" val="1"/>
  <p:tag name="KSO_WM_CHIP_GROUPID" val="5e6b05596848fb12bee65ac8"/>
  <p:tag name="KSO_WM_CHIP_XID" val="5e6b05596848fb12bee65aca"/>
  <p:tag name="KSO_WM_UNIT_DEC_AREA_ID" val="5fa1eb2e343e45e0aa7eaaf5a4637eb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5dd19e8c1bcc468c8309be4e06d5dcd0"/>
  <p:tag name="KSO_WM_UNIT_SUPPORT_BIG_FONT" val="1"/>
  <p:tag name="KSO_WM_UNIT_SUPPORT_UNIT_TYPE" val="[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0656ece4054ed1e2fb7fff9"/>
  <p:tag name="KSO_WM_TEMPLATE_ASSEMBLE_GROUPID" val="60656ece4054ed1e2fb7fff9"/>
</p:tagLst>
</file>

<file path=ppt/tags/tag197.xml><?xml version="1.0" encoding="utf-8"?>
<p:tagLst xmlns:p="http://schemas.openxmlformats.org/presentationml/2006/main">
  <p:tag name="KSO_WM_BEAUTIFY_FLAG" val="#wm#"/>
  <p:tag name="KSO_WM_TEMPLATE_CATEGORY" val="diagram"/>
  <p:tag name="KSO_WM_TEMPLATE_INDEX" val="20213341"/>
  <p:tag name="KSO_WM_SLIDE_ID" val="diagram20213341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41a553136823a5e617e"/>
  <p:tag name="KSO_WM_SLIDE_TYPE" val="text"/>
  <p:tag name="KSO_WM_SLIDE_SUBTYPE" val="picTxt"/>
  <p:tag name="KSO_WM_SLIDE_SIZE" val="864*420"/>
  <p:tag name="KSO_WM_SLIDE_POSITION" val="48*48"/>
  <p:tag name="KSO_WM_SLIDE_LAYOUT" val="a_d_f"/>
  <p:tag name="KSO_WM_SLIDE_LAYOUT_CNT" val="1_1_1"/>
  <p:tag name="KSO_WM_SLIDE_BACKGROUND" val="[&quot;general&quot;]"/>
  <p:tag name="KSO_WM_SLIDE_RATIO" val="1.777778"/>
  <p:tag name="KSO_WM_CHIP_FILLPROP" val="[[{&quot;text_align&quot;:&quot;lt&quot;,&quot;text_direction&quot;:&quot;horizontal&quot;,&quot;support_big_font&quot;:false,&quot;fill_id&quot;:&quot;13764482d0b94c3797cd92679777cb6d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fill_id&quot;:&quot;0c7aeec11ac7457eb4d583c52a0ae3d5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true,&quot;fill_id&quot;:&quot;95d2289085634f659fb9ea746d7af990&quot;,&quot;fill_align&quot;:&quot;lm&quot;,&quot;chip_types&quot;:[&quot;text&quot;,&quot;table&quot;]}]]"/>
  <p:tag name="KSO_WM_CHIP_DECFILLPROP" val="[]"/>
  <p:tag name="KSO_WM_CHIP_GROUPID" val="5f5ee1ca4d6848d78f644aec"/>
  <p:tag name="KSO_WM_SLIDE_BK_DARK_LIGHT" val="2"/>
  <p:tag name="KSO_WM_SLIDE_BACKGROUND_TYPE" val="general"/>
  <p:tag name="KSO_WM_SLIDE_SUPPORT_FEATURE_TYPE" val="3"/>
  <p:tag name="KSO_WM_TEMPLATE_ASSEMBLE_XID" val="60656ece4054ed1e2fb7fff9"/>
  <p:tag name="KSO_WM_TEMPLATE_ASSEMBLE_GROUPID" val="60656ece4054ed1e2fb7fff9"/>
  <p:tag name="KSO_WM_SLIDE_CAN_ADD_NAVIGATION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18:54&quot;,&quot;maxSize&quot;:{&quot;size1&quot;:26.699999999999999},&quot;minSize&quot;:{&quot;size1&quot;:17.800000000000001},&quot;normalSize&quot;:{&quot;size1&quot;:17.800185185185185},&quot;subLayout&quot;:[{&quot;id&quot;:&quot;2021-04-01T15:18:54&quot;,&quot;margin&quot;:{&quot;bottom&quot;:0,&quot;left&quot;:1.6929999589920044,&quot;right&quot;:1.6929999589920044,&quot;top&quot;:1.6929999589920044},&quot;type&quot;:0},{&quot;direction&quot;:1,&quot;id&quot;:&quot;2021-04-01T15:18:54&quot;,&quot;maxSize&quot;:{&quot;size1&quot;:61.199651511510218},&quot;minSize&quot;:{&quot;size1&quot;:49.999651511510216},&quot;normalSize&quot;:{&quot;size1&quot;:61.199651511510218},&quot;subLayout&quot;:[{&quot;id&quot;:&quot;2021-04-01T15:18:54&quot;,&quot;margin&quot;:{&quot;bottom&quot;:1.6929999589920044,&quot;left&quot;:1.6929999589920044,&quot;right&quot;:1.2439998388290405,&quot;top&quot;:0.84700000286102295},&quot;type&quot;:0},{&quot;id&quot;:&quot;2021-04-01T15:18:54&quot;,&quot;margin&quot;:{&quot;bottom&quot;:2.5399999618530273,&quot;left&quot;:0.026000002399086952,&quot;right&quot;:1.6929999589920044,&quot;top&quot;:0.84700000286102295},&quot;type&quot;:0}],&quot;type&quot;:0}],&quot;type&quot;:0}"/>
  <p:tag name="FIXED_XID_TMP" val="5f5ee1ca4d6848d78f644aec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D9D9D9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宽屏</PresentationFormat>
  <Paragraphs>34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楷体</vt:lpstr>
      <vt:lpstr>Arial Unicode MS</vt:lpstr>
      <vt:lpstr>Calibri</vt:lpstr>
      <vt:lpstr>Segoe UI</vt:lpstr>
      <vt:lpstr>Office 主题​​</vt:lpstr>
      <vt:lpstr>1_Office 主题​​</vt:lpstr>
      <vt:lpstr>荷叶上为什么不会沾水？</vt:lpstr>
      <vt:lpstr>一 、荷叶的构造</vt:lpstr>
      <vt:lpstr>二、荷叶疏水原理</vt:lpstr>
      <vt:lpstr>PowerPoint 演示文稿</vt:lpstr>
      <vt:lpstr>三、“荷叶效应”的应用</vt:lpstr>
      <vt:lpstr>谢谢大家!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181</cp:revision>
  <dcterms:created xsi:type="dcterms:W3CDTF">2019-06-19T02:08:00Z</dcterms:created>
  <dcterms:modified xsi:type="dcterms:W3CDTF">2022-04-23T07:43:06Z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2052-11.1.0.11405</vt:lpwstr>
  </property>
  <property fmtid="{D5CDD505-2E9C-101B-9397-08002B2CF9AE}" pid="3" name="ICV">
    <vt:lpwstr>867D4C0C264A4F2A90FB4D424C6F274D</vt:lpwstr>
  </property>
  <property fmtid="{D5CDD505-2E9C-101B-9397-08002B2CF9AE}" pid="4" name="commondata">
    <vt:lpwstr>eyJoZGlkIjoiN2NiM2I3YzhkNTU0OGUwZDFiZjkxNGE4ZDNkY2Q3OWQifQ==</vt:lpwstr>
  </property>
</Properties>
</file>